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Manutenção Preditiva: Motor Elétrico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D6E0"/>
                </a:solidFill>
              </a:defRPr>
            </a:pPr>
            <a:r>
              <a:t>Apresentação técnica  |  Pipeline, dados, modelagem, avaliação e arquitetura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Interpretação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Dois papéis: arquiteto/mentor do projeto contratado + autor de uma prévia técnica que convença o diretor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Ceticismo como método: auditar os dados antes de confiar neles, não depois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docs/01_interpretacao_problema.md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Balanceamento de classes: curado, não representativo de produção</a:t>
            </a:r>
          </a:p>
        </p:txBody>
      </p:sp>
      <p:pic>
        <p:nvPicPr>
          <p:cNvPr id="3" name="Picture 2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847" y="1005840"/>
            <a:ext cx="8382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O que a auditoria de dados encontrou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Dados_1, Dados_2, Dados_3: sinal real, discriminam as classes (Kruskal-Wallis + permutação de MI)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Dados_4: travado em valor quase constante (sensor morto/mal cabeado)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Dados_5: estatisticamente indistinguível de ruído branco em relação às classes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Coluna 201 em Dados_1-3: artefato de exportação, quase inteiramente vazia, descartada com validação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5 classes perfeitamente balanceadas, padrão que não ocorre numa planta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Auditoria de sensores por informação mútua com a classe</a:t>
            </a:r>
          </a:p>
        </p:txBody>
      </p:sp>
      <p:pic>
        <p:nvPicPr>
          <p:cNvPr id="3" name="Picture 2" descr="sensor_audit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34" y="1005840"/>
            <a:ext cx="820822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Pipeline de engenharia de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Tempo: RMS, curtose, fator de crista/forma/impulso/clearance, zero-crossing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Frequência: bandas de 250 Hz, centróide espectral, entropia, flatness, picos dominantes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Wavelet: energia por escala (CWT Morlet, PyWavelets), ridge synchrosqueezed quando disponível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Limpeza: filtro de Hampel para saturação, interpolação de NaN, flag de janela silenciosa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Limiares de limpeza ajustados só no split de treino, nunca vazam para calibração/teste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5F"/>
                </a:solidFill>
              </a:defRPr>
            </a:pPr>
            <a:r>
              <a:t>Wavelet na prática: energia concentrada em bandas por classe</a:t>
            </a:r>
          </a:p>
        </p:txBody>
      </p:sp>
      <p:pic>
        <p:nvPicPr>
          <p:cNvPr id="3" name="Picture 2" descr="wavelet_scalogram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09585" y="1405890"/>
            <a:ext cx="10972525" cy="2969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A4A4A"/>
                </a:solidFill>
              </a:defRPr>
            </a:pPr>
            <a:r>
              <a:t>Escalograma CWT (Morlet) real de uma janela por classe; a base da feature de energia por escala.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Seleção de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4 candidatos comparados por validação cruzada estratificada: árvore de decisão, Random Forest, HistGradientBoosting, XGBoost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Vencedor: hist_gradient_boosting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F1-macro médio em CV: 0.9568 (+/- 0.0018)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Sem deep learning: regime de dados não justifica, e trocaria interpretabilidade por ganho marginal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Matriz de confusão em teste (nunca visto no treino)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874" y="1005840"/>
            <a:ext cx="487794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Calibração de probabilidade</a:t>
            </a:r>
          </a:p>
        </p:txBody>
      </p:sp>
      <p:pic>
        <p:nvPicPr>
          <p:cNvPr id="3" name="Picture 2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673" y="1005840"/>
            <a:ext cx="489434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A4A4A"/>
                </a:solidFill>
              </a:defRPr>
            </a:pPr>
            <a:r>
              <a:t>ECE baixo é pré-requisito para a predição conformal fazer sentido.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Predição conformal: tamanho do conjunto de predição</a:t>
            </a:r>
          </a:p>
        </p:txBody>
      </p:sp>
      <p:pic>
        <p:nvPicPr>
          <p:cNvPr id="3" name="Picture 2" descr="conformal_se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1005840"/>
            <a:ext cx="670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Reavaliação sob desbalanceamento realista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O conjunto do case está artificialmente balanceado (10k janelas/classe)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evaluation/imbalance.py reamostra o teste sob um prior configurável (operação saudável dominante)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Recall e PR-AUC por classe reportados sob esse prior, não só no cenário balanceado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Robustez: degradação ao remover um sensor</a:t>
            </a:r>
          </a:p>
        </p:txBody>
      </p:sp>
      <p:pic>
        <p:nvPicPr>
          <p:cNvPr id="3" name="Picture 2" descr="robustness_sensor_dr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635" y="1005840"/>
            <a:ext cx="924442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Controles de sanidade: o resultado não é vazamento</a:t>
            </a:r>
          </a:p>
        </p:txBody>
      </p:sp>
      <p:pic>
        <p:nvPicPr>
          <p:cNvPr id="3" name="Picture 2" descr="sanity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53" y="1005840"/>
            <a:ext cx="779158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Explicabilidade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Importância por permutação: sempre disponível, qualquer estimador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SHAP (TreeExplainer): explicabilidade global e local, real nesta execução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LIME: explicação local por instância, sempre disponível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Árvore de decisão como baseline totalmente legível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Arquitetura do sistema</a:t>
            </a:r>
          </a:p>
        </p:txBody>
      </p:sp>
      <p:pic>
        <p:nvPicPr>
          <p:cNvPr id="3" name="Picture 2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75" y="1005840"/>
            <a:ext cx="846614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Pipeline de treino em detalhe</a:t>
            </a:r>
          </a:p>
        </p:txBody>
      </p:sp>
      <p:pic>
        <p:nvPicPr>
          <p:cNvPr id="3" name="Picture 2" descr="pipeline_detail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09585" y="1405890"/>
            <a:ext cx="10972525" cy="3169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API, banco de dados e disponibilização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FastAPI: /predict, /predict_batch, /explain, /audit, /drift, /health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SQLite local / Postgres via Docker, armazena só o que a IA produz (predições, auditorias, drift)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Dashboard Streamlit para o time de manutenção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Demonstração completa em notebooks/03_api_demo.ipynb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Dependências opcionais e degradação graciosa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mlflow, shap, ssqueezepy: exigem toolchain de compilação, fallback local documentado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pandas.to_parquet: mesma causa raiz (pyarrow), fallback para joblib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psycopg2-binary: só instalado dentro do container Docker, nunca em requirements.txt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Todas as dependências validadas rodando de verdade, ver docs/03_arquitetura.md, seção 3.6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Cronograma de execução: 9 meses</a:t>
            </a:r>
          </a:p>
        </p:txBody>
      </p:sp>
      <p:pic>
        <p:nvPicPr>
          <p:cNvPr id="3" name="Picture 2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65" y="1005840"/>
            <a:ext cx="1175156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5F"/>
                </a:solidFill>
              </a:defRPr>
            </a:pPr>
            <a:r>
              <a:t>Trilha de pesquisa interna (equipe de IA do SENAI, paralela)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4A4A"/>
                </a:solidFill>
              </a:defRPr>
            </a:pPr>
            <a:r>
              <a:t>1 ML engineer adicional, meses 3-6, custeado à parte do projeto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Não faz parte do escopo contratado pelo cliente nem bloqueia nenhuma fase do cronograma acima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H1-H2: modelos informados por física (physics-informed), IECON 2025, IEEE Access 2026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H3, H6-H7: não/semi/auto-supervisionado para o regime real de poucos dados de falha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H4: reconhecimento open-set de falhas nunca vistas (rede Siamesa + EVT)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H5: predição conformal recalibrada continuamente em produção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H8: Hard-Constrained Recurrent PINNs (tese de qualificação, UFSC 2026)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Promovida a produção só se ganhar em robustez sem piorar interpretabilidade (ver docs/06_track_pesquisa.md)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5F"/>
                </a:solidFill>
              </a:defRPr>
            </a:pPr>
            <a:r>
              <a:t>Perguntas em aberto para o time de automação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Grandeza física e sensibilidade de cada sensor (vibração? corrente?)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Semântica de negócio de cada uma das 5 classes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Causa da coluna fantasma em Dados_1-3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Disponibilidade de sinal de RPM/rotação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Lista completa: docs/07_perguntas_ao_cliente.md (16 perguntas)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